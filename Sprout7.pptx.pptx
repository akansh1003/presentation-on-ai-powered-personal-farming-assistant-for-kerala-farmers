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000"/>
    <a:srgbClr val="FFA751"/>
    <a:srgbClr val="39B0D4"/>
    <a:srgbClr val="9BBB59"/>
    <a:srgbClr val="727272"/>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BFDC6E-798C-4189-9344-97C6F58F1CED}" v="357" dt="2025-09-19T07:14:20.308"/>
    <p1510:client id="{75D1F373-6EDF-4D91-B717-0965F3558B9D}" v="1226" dt="2025-09-19T06:04:25.602"/>
    <p1510:client id="{7E977221-BDAE-4167-9D92-1A9CED591DDF}" v="4" dt="2025-09-19T11:11:53.199"/>
    <p1510:client id="{996F7833-1B17-40AE-B650-A1253D34F9DE}" v="166" dt="2025-09-20T04:28:29.674"/>
    <p1510:client id="{AE8C2DE4-5686-4ED2-BE1B-8E80AF8CA893}" v="29" dt="2025-09-19T09:22:21.778"/>
    <p1510:client id="{F272511A-F9EA-4BFE-8D68-097D968B6CAC}" v="333" dt="2025-09-19T12:28:30.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9/19/2025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9/19/2025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9/19/2025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9/19/2025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9/19/2025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9/19/2025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9/19/2025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9/19/2025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9/19/2025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9/19/2025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9/19/2025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9/19/2025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soilhealth.dac.gov.in/%5d(https:/soilhealth.dac.gov.in/" TargetMode="External"/><Relationship Id="rId3" Type="http://schemas.openxmlformats.org/officeDocument/2006/relationships/image" Target="../media/image2.png"/><Relationship Id="rId7" Type="http://schemas.openxmlformats.org/officeDocument/2006/relationships/hyperlink" Target="https://agmarknet.gov.in/%5d(https:/agmarknet.gov.i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openweathermap.org/api%5d(https:/openweathermap.org/api" TargetMode="External"/><Relationship Id="rId5" Type="http://schemas.openxmlformats.org/officeDocument/2006/relationships/hyperlink" Target="https://ncof.dacnet.nic.in/%5d(https:/ncof.dacnet.nic.in/" TargetMode="External"/><Relationship Id="rId4" Type="http://schemas.openxmlformats.org/officeDocument/2006/relationships/hyperlink" Target="https://kau.in/%5d(https:/kau.in/" TargetMode="External"/><Relationship Id="rId9" Type="http://schemas.openxmlformats.org/officeDocument/2006/relationships/hyperlink" Target="https://plantvillage.psu.edu/%5d(https:/plantvillage.psu.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9624864" y="3806232"/>
            <a:ext cx="2585672" cy="2839292"/>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475448" y="-670919"/>
            <a:ext cx="10363200" cy="2076450"/>
          </a:xfrm>
        </p:spPr>
        <p:txBody>
          <a:bodyPr/>
          <a:lstStyle/>
          <a:p>
            <a:r>
              <a:rPr lang="en-US" sz="4000" b="1" u="sng">
                <a:solidFill>
                  <a:schemeClr val="tx2"/>
                </a:solidFill>
                <a:latin typeface="Garamond"/>
                <a:ea typeface="ＭＳ Ｐゴシック"/>
              </a:rPr>
              <a:t>SMART INDIA HACKATHON 2025</a:t>
            </a:r>
            <a:endParaRPr lang="en-IN" sz="4000" b="1" u="sng">
              <a:solidFill>
                <a:schemeClr val="tx2"/>
              </a:solidFill>
              <a:latin typeface="Garamond"/>
              <a:ea typeface="ＭＳ Ｐゴシック"/>
            </a:endParaRPr>
          </a:p>
        </p:txBody>
      </p:sp>
      <p:sp>
        <p:nvSpPr>
          <p:cNvPr id="10" name="TextBox 9"/>
          <p:cNvSpPr txBox="1"/>
          <p:nvPr/>
        </p:nvSpPr>
        <p:spPr>
          <a:xfrm>
            <a:off x="475448" y="1396829"/>
            <a:ext cx="8540063" cy="5425331"/>
          </a:xfrm>
          <a:prstGeom prst="rect">
            <a:avLst/>
          </a:prstGeom>
          <a:noFill/>
        </p:spPr>
        <p:txBody>
          <a:bodyPr wrap="square" lIns="91440" tIns="45720" rIns="91440" bIns="45720" rtlCol="0" anchor="t">
            <a:spAutoFit/>
          </a:bodyPr>
          <a:lstStyle/>
          <a:p>
            <a:endParaRPr lang="en-US">
              <a:cs typeface="Calibri" pitchFamily="34" charset="0"/>
            </a:endParaRPr>
          </a:p>
          <a:p>
            <a:pPr marL="285750" indent="-285750" algn="just">
              <a:lnSpc>
                <a:spcPct val="200000"/>
              </a:lnSpc>
              <a:buFont typeface="Arial" panose="020B0604020202020204" pitchFamily="34" charset="0"/>
              <a:buChar char="•"/>
            </a:pPr>
            <a:r>
              <a:rPr lang="en-US" sz="2400" dirty="0">
                <a:latin typeface="Arial"/>
                <a:ea typeface="ＭＳ Ｐゴシック"/>
                <a:cs typeface="Arial"/>
              </a:rPr>
              <a:t>Problem Statement ID – 25074</a:t>
            </a:r>
            <a:endParaRPr lang="en-US" sz="2400" dirty="0">
              <a:latin typeface="Arial"/>
              <a:cs typeface="Arial"/>
            </a:endParaRPr>
          </a:p>
          <a:p>
            <a:pPr marL="285750" indent="-285750" algn="just">
              <a:lnSpc>
                <a:spcPct val="200000"/>
              </a:lnSpc>
              <a:buFont typeface="Arial" panose="020B0604020202020204" pitchFamily="34" charset="0"/>
              <a:buChar char="•"/>
            </a:pPr>
            <a:r>
              <a:rPr lang="en-US" sz="2400" dirty="0">
                <a:latin typeface="Arial"/>
                <a:ea typeface="ＭＳ Ｐゴシック"/>
                <a:cs typeface="Arial"/>
              </a:rPr>
              <a:t>Problem Statement Title -</a:t>
            </a:r>
            <a:r>
              <a:rPr lang="en-US" sz="2400" dirty="0">
                <a:solidFill>
                  <a:srgbClr val="212529"/>
                </a:solidFill>
                <a:latin typeface="Arial"/>
                <a:ea typeface="Calibri"/>
                <a:cs typeface="Calibri"/>
              </a:rPr>
              <a:t>AI-Powered Personal Farming Assistant for Kerala Farmers</a:t>
            </a:r>
            <a:endParaRPr lang="en-US" sz="1000" dirty="0">
              <a:solidFill>
                <a:srgbClr val="212529"/>
              </a:solidFill>
              <a:latin typeface="Calibri"/>
              <a:ea typeface="Calibri"/>
              <a:cs typeface="Calibri"/>
            </a:endParaRPr>
          </a:p>
          <a:p>
            <a:pPr marL="285750" indent="-285750" algn="just">
              <a:lnSpc>
                <a:spcPct val="200000"/>
              </a:lnSpc>
              <a:buFont typeface="Arial" panose="020B0604020202020204" pitchFamily="34" charset="0"/>
              <a:buChar char="•"/>
            </a:pPr>
            <a:r>
              <a:rPr lang="en-US" sz="2400" dirty="0">
                <a:latin typeface="Arial"/>
                <a:ea typeface="ＭＳ Ｐゴシック"/>
                <a:cs typeface="Arial"/>
              </a:rPr>
              <a:t>Theme - </a:t>
            </a:r>
            <a:r>
              <a:rPr lang="en-US" sz="2400" dirty="0">
                <a:latin typeface="Arial"/>
                <a:ea typeface="Calibri"/>
                <a:cs typeface="Arial"/>
              </a:rPr>
              <a:t>Agriculture, FoodTech &amp; Rural Development</a:t>
            </a:r>
            <a:endParaRPr lang="en-US"/>
          </a:p>
          <a:p>
            <a:pPr marL="285750" indent="-285750" algn="just">
              <a:lnSpc>
                <a:spcPct val="200000"/>
              </a:lnSpc>
              <a:buFont typeface="Arial" panose="020B0604020202020204" pitchFamily="34" charset="0"/>
              <a:buChar char="•"/>
            </a:pPr>
            <a:r>
              <a:rPr lang="en-US" sz="2400" dirty="0">
                <a:latin typeface="Arial"/>
                <a:ea typeface="ＭＳ Ｐゴシック"/>
                <a:cs typeface="Arial"/>
              </a:rPr>
              <a:t>PS Category - Software</a:t>
            </a:r>
          </a:p>
          <a:p>
            <a:pPr marL="285750" indent="-285750" algn="just">
              <a:lnSpc>
                <a:spcPct val="200000"/>
              </a:lnSpc>
              <a:buFont typeface="Arial" panose="020B0604020202020204" pitchFamily="34" charset="0"/>
              <a:buChar char="•"/>
            </a:pPr>
            <a:r>
              <a:rPr lang="en-US" sz="2400" dirty="0">
                <a:latin typeface="Arial"/>
                <a:ea typeface="ＭＳ Ｐゴシック"/>
                <a:cs typeface="Arial"/>
              </a:rPr>
              <a:t>Team ID - </a:t>
            </a:r>
          </a:p>
          <a:p>
            <a:pPr marL="285750" indent="-285750" algn="just">
              <a:lnSpc>
                <a:spcPct val="200000"/>
              </a:lnSpc>
              <a:buFont typeface="Arial" panose="020B0604020202020204" pitchFamily="34" charset="0"/>
              <a:buChar char="•"/>
            </a:pPr>
            <a:r>
              <a:rPr lang="en-US" sz="2400" dirty="0">
                <a:latin typeface="Arial"/>
                <a:ea typeface="ＭＳ Ｐゴシック"/>
                <a:cs typeface="Arial"/>
              </a:rPr>
              <a:t>Team name - Sprout7</a:t>
            </a: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7906" y="6297"/>
            <a:ext cx="1982580" cy="9993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5361" name="Title 1"/>
          <p:cNvSpPr>
            <a:spLocks noGrp="1"/>
          </p:cNvSpPr>
          <p:nvPr>
            <p:ph type="title"/>
          </p:nvPr>
        </p:nvSpPr>
        <p:spPr>
          <a:xfrm>
            <a:off x="453772" y="-488830"/>
            <a:ext cx="10972800" cy="1143000"/>
          </a:xfrm>
        </p:spPr>
        <p:txBody>
          <a:bodyPr/>
          <a:lstStyle/>
          <a:p>
            <a:pPr eaLnBrk="1" hangingPunct="1"/>
            <a:br>
              <a:rPr lang="en-US" sz="3600" b="1">
                <a:latin typeface="Times New Roman" panose="02020603050405020304" pitchFamily="18" charset="0"/>
                <a:ea typeface="ＭＳ Ｐゴシック" pitchFamily="1" charset="-128"/>
                <a:cs typeface="Times New Roman" panose="02020603050405020304" pitchFamily="18" charset="0"/>
              </a:rPr>
            </a:br>
            <a:r>
              <a:rPr lang="en-US" sz="3600" b="1" u="sng">
                <a:latin typeface="Times New Roman"/>
                <a:ea typeface="ＭＳ Ｐゴシック"/>
                <a:cs typeface="Times New Roman"/>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214754" y="79718"/>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lang="en-US" b="1" i="1" dirty="0">
                <a:ea typeface="Calibri"/>
                <a:cs typeface="Calibri"/>
              </a:rPr>
              <a:t>Sprout7</a:t>
            </a:r>
          </a:p>
        </p:txBody>
      </p:sp>
      <p:sp>
        <p:nvSpPr>
          <p:cNvPr id="4" name="TextBox 3">
            <a:extLst>
              <a:ext uri="{FF2B5EF4-FFF2-40B4-BE49-F238E27FC236}">
                <a16:creationId xmlns:a16="http://schemas.microsoft.com/office/drawing/2014/main" id="{A07A606B-BC31-D52E-BE4C-E730E2C2D490}"/>
              </a:ext>
            </a:extLst>
          </p:cNvPr>
          <p:cNvSpPr txBox="1"/>
          <p:nvPr/>
        </p:nvSpPr>
        <p:spPr>
          <a:xfrm>
            <a:off x="213641" y="3628586"/>
            <a:ext cx="5285710" cy="1862048"/>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u="sng" dirty="0">
                <a:solidFill>
                  <a:srgbClr val="0F1115"/>
                </a:solidFill>
                <a:latin typeface="Arial Black"/>
                <a:ea typeface="ＭＳ Ｐゴシック"/>
                <a:cs typeface="Calibri"/>
              </a:rPr>
              <a:t>How it </a:t>
            </a:r>
            <a:r>
              <a:rPr lang="en-US" sz="1400" i="1" u="sng" dirty="0" err="1">
                <a:solidFill>
                  <a:srgbClr val="0F1115"/>
                </a:solidFill>
                <a:latin typeface="Arial Black"/>
                <a:ea typeface="ＭＳ Ｐゴシック"/>
                <a:cs typeface="Calibri"/>
              </a:rPr>
              <a:t>addressess</a:t>
            </a:r>
            <a:r>
              <a:rPr lang="en-US" sz="1400" i="1" u="sng" dirty="0">
                <a:solidFill>
                  <a:srgbClr val="0F1115"/>
                </a:solidFill>
                <a:latin typeface="Arial Black"/>
                <a:ea typeface="ＭＳ Ｐゴシック"/>
                <a:cs typeface="Calibri"/>
              </a:rPr>
              <a:t> the problem :</a:t>
            </a:r>
          </a:p>
          <a:p>
            <a:pPr marL="171450" indent="-171450">
              <a:buFont typeface="Arial"/>
              <a:buChar char="•"/>
            </a:pPr>
            <a:r>
              <a:rPr lang="en-US" sz="1200" i="1" dirty="0">
                <a:solidFill>
                  <a:srgbClr val="0F1115"/>
                </a:solidFill>
                <a:latin typeface="Calibri Light"/>
                <a:ea typeface="ＭＳ Ｐゴシック"/>
                <a:cs typeface="Calibri"/>
              </a:rPr>
              <a:t>Lack of Personalized, Timely Advice &amp; Generic Advisories</a:t>
            </a:r>
            <a:endParaRPr lang="en-US" sz="1200" dirty="0">
              <a:ea typeface="Calibri"/>
              <a:cs typeface="Calibri" pitchFamily="34" charset="0"/>
            </a:endParaRPr>
          </a:p>
          <a:p>
            <a:pPr>
              <a:buFont typeface="Arial"/>
              <a:buChar char="•"/>
            </a:pPr>
            <a:r>
              <a:rPr lang="en-US" sz="1200" i="1" dirty="0">
                <a:solidFill>
                  <a:srgbClr val="0F1115"/>
                </a:solidFill>
                <a:latin typeface="Calibri Light"/>
                <a:ea typeface="Calibri"/>
                <a:cs typeface="Calibri"/>
              </a:rPr>
              <a:t>    Failure to Account for Local Conditions (Crop, Weather, Soil, Practices)</a:t>
            </a:r>
            <a:r>
              <a:rPr lang="en-US" sz="1200" i="1" dirty="0">
                <a:latin typeface="Calibri Light"/>
                <a:ea typeface="ＭＳ Ｐゴシック"/>
                <a:cs typeface="Calibri"/>
              </a:rPr>
              <a:t>  </a:t>
            </a:r>
            <a:endParaRPr lang="en-US" sz="1200" i="1" dirty="0">
              <a:latin typeface="Calibri Light"/>
              <a:ea typeface="Calibri Light"/>
              <a:cs typeface="Calibri"/>
            </a:endParaRPr>
          </a:p>
          <a:p>
            <a:pPr>
              <a:buFont typeface="Arial"/>
              <a:buChar char="•"/>
            </a:pPr>
            <a:r>
              <a:rPr lang="en-US" sz="1200" i="1" dirty="0">
                <a:latin typeface="Calibri"/>
                <a:ea typeface="ＭＳ Ｐゴシック"/>
                <a:cs typeface="Calibri"/>
              </a:rPr>
              <a:t>    </a:t>
            </a:r>
            <a:r>
              <a:rPr lang="en-US" sz="1200" i="1" dirty="0">
                <a:solidFill>
                  <a:srgbClr val="0F1115"/>
                </a:solidFill>
                <a:latin typeface="Calibri Light"/>
                <a:ea typeface="Calibri"/>
                <a:cs typeface="Calibri"/>
              </a:rPr>
              <a:t>Farmers Not Maintaining Activity Records</a:t>
            </a:r>
            <a:r>
              <a:rPr lang="en-US" sz="1200" i="1" dirty="0">
                <a:latin typeface="Calibri Light"/>
                <a:ea typeface="ＭＳ Ｐゴシック"/>
                <a:cs typeface="Calibri"/>
              </a:rPr>
              <a:t> </a:t>
            </a:r>
            <a:endParaRPr lang="en-US" sz="1200" i="1" dirty="0">
              <a:latin typeface="Calibri"/>
              <a:ea typeface="Calibri"/>
              <a:cs typeface="Calibri"/>
            </a:endParaRPr>
          </a:p>
          <a:p>
            <a:pPr>
              <a:buFont typeface="Arial"/>
              <a:buChar char="•"/>
            </a:pPr>
            <a:r>
              <a:rPr lang="en-US" sz="1200" i="1" dirty="0">
                <a:latin typeface="Calibri Light"/>
                <a:ea typeface="ＭＳ Ｐゴシック"/>
                <a:cs typeface="Calibri"/>
              </a:rPr>
              <a:t>   </a:t>
            </a:r>
            <a:r>
              <a:rPr lang="en-US" sz="1200" i="1" dirty="0">
                <a:solidFill>
                  <a:srgbClr val="000000"/>
                </a:solidFill>
                <a:latin typeface="Calibri Light"/>
                <a:ea typeface="ＭＳ Ｐゴシック"/>
                <a:cs typeface="Calibri"/>
              </a:rPr>
              <a:t> </a:t>
            </a:r>
            <a:r>
              <a:rPr lang="en-US" sz="1200" i="1" dirty="0">
                <a:solidFill>
                  <a:srgbClr val="0F1115"/>
                </a:solidFill>
                <a:latin typeface="Calibri Light"/>
                <a:ea typeface="Calibri"/>
                <a:cs typeface="Calibri"/>
              </a:rPr>
              <a:t>Bridging the Knowledge Gap</a:t>
            </a:r>
            <a:endParaRPr lang="en-US" sz="1200" i="1" dirty="0">
              <a:latin typeface="Calibri Light"/>
              <a:ea typeface="Calibri Light"/>
              <a:cs typeface="Calibri"/>
            </a:endParaRPr>
          </a:p>
          <a:p>
            <a:pPr>
              <a:buFont typeface="Arial"/>
              <a:buChar char="•"/>
            </a:pPr>
            <a:r>
              <a:rPr lang="en-US" sz="1200" i="1" dirty="0">
                <a:solidFill>
                  <a:srgbClr val="0F1115"/>
                </a:solidFill>
                <a:latin typeface="Calibri Light"/>
                <a:ea typeface="Calibri"/>
                <a:cs typeface="Calibri"/>
              </a:rPr>
              <a:t>    Enhancing Productivity and Sustainability</a:t>
            </a:r>
            <a:br>
              <a:rPr lang="en-US" sz="1200" i="1" dirty="0">
                <a:latin typeface="Calibri Light"/>
              </a:rPr>
            </a:br>
            <a:br>
              <a:rPr lang="en-US" sz="1200" i="1" dirty="0">
                <a:latin typeface="Calibri Light"/>
              </a:rPr>
            </a:br>
            <a:endParaRPr lang="en-US" sz="1100" i="1">
              <a:latin typeface="Calibri Light"/>
              <a:cs typeface="Calibri"/>
            </a:endParaRPr>
          </a:p>
          <a:p>
            <a:pPr marL="285750" indent="-285750">
              <a:buFont typeface="Arial"/>
              <a:buChar char="•"/>
            </a:pPr>
            <a:endParaRPr lang="en-US" b="1">
              <a:solidFill>
                <a:srgbClr val="0F1115"/>
              </a:solidFill>
              <a:latin typeface="quote-cjk-patch"/>
            </a:endParaRPr>
          </a:p>
        </p:txBody>
      </p:sp>
      <p:pic>
        <p:nvPicPr>
          <p:cNvPr id="8" name="Picture 7" descr="A diagram of a farm&#10;&#10;AI-generated content may be incorrect.">
            <a:extLst>
              <a:ext uri="{FF2B5EF4-FFF2-40B4-BE49-F238E27FC236}">
                <a16:creationId xmlns:a16="http://schemas.microsoft.com/office/drawing/2014/main" id="{6560F23C-C6C2-0F1A-4E53-4A1053125342}"/>
              </a:ext>
            </a:extLst>
          </p:cNvPr>
          <p:cNvPicPr>
            <a:picLocks noChangeAspect="1"/>
          </p:cNvPicPr>
          <p:nvPr/>
        </p:nvPicPr>
        <p:blipFill>
          <a:blip r:embed="rId3"/>
          <a:srcRect r="-166" b="4681"/>
          <a:stretch>
            <a:fillRect/>
          </a:stretch>
        </p:blipFill>
        <p:spPr>
          <a:xfrm>
            <a:off x="5605317" y="1209964"/>
            <a:ext cx="6233305" cy="4615512"/>
          </a:xfrm>
          <a:prstGeom prst="rect">
            <a:avLst/>
          </a:prstGeom>
        </p:spPr>
      </p:pic>
      <p:sp>
        <p:nvSpPr>
          <p:cNvPr id="14" name="TextBox 1">
            <a:extLst>
              <a:ext uri="{FF2B5EF4-FFF2-40B4-BE49-F238E27FC236}">
                <a16:creationId xmlns:a16="http://schemas.microsoft.com/office/drawing/2014/main" id="{8EC44B2E-BFDE-CA6E-DA98-0F5C8C748406}"/>
              </a:ext>
            </a:extLst>
          </p:cNvPr>
          <p:cNvSpPr txBox="1"/>
          <p:nvPr/>
        </p:nvSpPr>
        <p:spPr>
          <a:xfrm>
            <a:off x="216305" y="1440912"/>
            <a:ext cx="5276071" cy="1585049"/>
          </a:xfrm>
          <a:prstGeom prst="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a:lstStyle>
          <a:p>
            <a:r>
              <a:rPr lang="en-US" sz="1400" i="1" u="sng" dirty="0">
                <a:latin typeface="Arial Black"/>
                <a:ea typeface="Calibri"/>
                <a:cs typeface="Calibri"/>
              </a:rPr>
              <a:t>Proposed solution :</a:t>
            </a:r>
          </a:p>
          <a:p>
            <a:pPr marL="285750" indent="-285750">
              <a:buFont typeface="Arial"/>
              <a:buChar char="•"/>
            </a:pPr>
            <a:r>
              <a:rPr lang="en-US" sz="1200" i="1" dirty="0">
                <a:latin typeface="Calibri Light"/>
                <a:ea typeface="Calibri"/>
                <a:cs typeface="Calibri"/>
              </a:rPr>
              <a:t>The system will be built on a core platform with plug-in modules, allowing features to be added as development progresses </a:t>
            </a:r>
            <a:endParaRPr lang="en-US" sz="1200" dirty="0">
              <a:cs typeface="Calibri"/>
            </a:endParaRPr>
          </a:p>
          <a:p>
            <a:pPr marL="285750" indent="-285750">
              <a:buFont typeface="Arial,Sans-Serif"/>
              <a:buChar char="•"/>
            </a:pPr>
            <a:r>
              <a:rPr lang="en-US" sz="1200" i="1" dirty="0">
                <a:solidFill>
                  <a:srgbClr val="0F1115"/>
                </a:solidFill>
                <a:latin typeface="Calibri Light"/>
                <a:ea typeface="Calibri"/>
                <a:cs typeface="Calibri"/>
              </a:rPr>
              <a:t>A simple, intuitive onboarding process within the Website.</a:t>
            </a:r>
            <a:endParaRPr lang="en-US" sz="1200" i="1" dirty="0">
              <a:solidFill>
                <a:srgbClr val="000000"/>
              </a:solidFill>
              <a:latin typeface="Calibri Light"/>
              <a:ea typeface="Calibri"/>
              <a:cs typeface="Calibri"/>
            </a:endParaRPr>
          </a:p>
          <a:p>
            <a:pPr marL="285750" indent="-285750">
              <a:buFont typeface="Arial"/>
              <a:buChar char="•"/>
            </a:pPr>
            <a:r>
              <a:rPr lang="en-US" sz="1200" i="1" dirty="0">
                <a:solidFill>
                  <a:srgbClr val="0F1115"/>
                </a:solidFill>
                <a:latin typeface="Calibri Light"/>
                <a:ea typeface="ＭＳ Ｐゴシック"/>
                <a:cs typeface="Calibri"/>
              </a:rPr>
              <a:t>Advanced AI &amp; Personalization Engine, Knowledge Base Integration.</a:t>
            </a:r>
            <a:endParaRPr lang="en-US" sz="1200" i="1" dirty="0">
              <a:latin typeface="Calibri Light"/>
              <a:ea typeface="ＭＳ Ｐゴシック"/>
              <a:cs typeface="Calibri"/>
            </a:endParaRPr>
          </a:p>
          <a:p>
            <a:pPr marL="285750" indent="-285750">
              <a:buFont typeface="Arial"/>
              <a:buChar char="•"/>
            </a:pPr>
            <a:r>
              <a:rPr lang="en-US" sz="1200" i="1" dirty="0">
                <a:solidFill>
                  <a:srgbClr val="0F1115"/>
                </a:solidFill>
                <a:latin typeface="Calibri Light"/>
                <a:ea typeface="ＭＳ Ｐゴシック"/>
                <a:cs typeface="Calibri"/>
              </a:rPr>
              <a:t>Proactive Alert System, Market &amp; Scheme Integration.</a:t>
            </a:r>
            <a:endParaRPr lang="en-US" sz="1200" i="1" dirty="0">
              <a:solidFill>
                <a:srgbClr val="000000"/>
              </a:solidFill>
              <a:latin typeface="Calibri Light"/>
              <a:cs typeface="Calibri"/>
            </a:endParaRPr>
          </a:p>
          <a:p>
            <a:pPr marL="285750" indent="-285750">
              <a:buFont typeface="Arial"/>
              <a:buChar char="•"/>
            </a:pPr>
            <a:r>
              <a:rPr lang="en-US" sz="1200" i="1" dirty="0">
                <a:solidFill>
                  <a:srgbClr val="0F1115"/>
                </a:solidFill>
                <a:latin typeface="Calibri Light"/>
                <a:ea typeface="ＭＳ Ｐゴシック"/>
                <a:cs typeface="Calibri"/>
              </a:rPr>
              <a:t>Image Recognition for </a:t>
            </a:r>
            <a:r>
              <a:rPr lang="en-US" sz="1200" i="1" dirty="0">
                <a:latin typeface="Calibri Light"/>
                <a:ea typeface="Calibri Light"/>
                <a:cs typeface="Calibri Light"/>
              </a:rPr>
              <a:t>Pest</a:t>
            </a:r>
            <a:r>
              <a:rPr lang="en-US" sz="1200" i="1" dirty="0">
                <a:solidFill>
                  <a:srgbClr val="0F1115"/>
                </a:solidFill>
                <a:latin typeface="Calibri Light"/>
                <a:ea typeface="ＭＳ Ｐゴシック"/>
                <a:cs typeface="Calibri"/>
              </a:rPr>
              <a:t>/Disease Diagnosis.</a:t>
            </a:r>
          </a:p>
          <a:p>
            <a:pPr marL="285750" indent="-285750">
              <a:buFont typeface="Arial"/>
              <a:buChar char="•"/>
            </a:pPr>
            <a:endParaRPr lang="en-US" sz="1100" i="1">
              <a:solidFill>
                <a:srgbClr val="0F1115"/>
              </a:solidFill>
              <a:latin typeface="Calibri Light"/>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u="sng">
                <a:latin typeface="Times New Roman"/>
                <a:ea typeface="ＭＳ Ｐゴシック"/>
                <a:cs typeface="Times New Roman"/>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lang="en-US" b="1" i="1" dirty="0">
                <a:ea typeface="Calibri"/>
                <a:cs typeface="Calibri"/>
              </a:rPr>
              <a:t>Sprout7</a:t>
            </a:r>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99250FA-874F-43DD-DDD7-1C77F95AF4FE}"/>
              </a:ext>
            </a:extLst>
          </p:cNvPr>
          <p:cNvSpPr txBox="1"/>
          <p:nvPr/>
        </p:nvSpPr>
        <p:spPr>
          <a:xfrm>
            <a:off x="147115" y="1476480"/>
            <a:ext cx="7005477" cy="4616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solidFill>
                <a:srgbClr val="0F1115"/>
              </a:solidFill>
              <a:cs typeface="Calibri"/>
            </a:endParaRPr>
          </a:p>
          <a:p>
            <a:r>
              <a:rPr lang="en-US" sz="1600" b="1" i="1" u="sng" dirty="0">
                <a:solidFill>
                  <a:srgbClr val="0F1115"/>
                </a:solidFill>
                <a:latin typeface="Calibri Light"/>
                <a:ea typeface="ＭＳ Ｐゴシック"/>
                <a:cs typeface="Calibri Light"/>
              </a:rPr>
              <a:t>Frontend</a:t>
            </a:r>
            <a:endParaRPr lang="en-US" sz="1600" b="1" i="1" u="sng">
              <a:latin typeface="Calibri Light"/>
              <a:ea typeface="ＭＳ Ｐゴシック"/>
              <a:cs typeface="Calibri Light"/>
            </a:endParaRPr>
          </a:p>
          <a:p>
            <a:pPr marL="285750" indent="-285750">
              <a:buFont typeface="Arial"/>
              <a:buChar char="•"/>
            </a:pPr>
            <a:r>
              <a:rPr lang="en-US" sz="1600" i="1" dirty="0">
                <a:solidFill>
                  <a:srgbClr val="0F1115"/>
                </a:solidFill>
                <a:latin typeface="Calibri Light"/>
                <a:ea typeface="Calibri"/>
                <a:cs typeface="Calibri"/>
              </a:rPr>
              <a:t>Chatbot interface (text + voice, local language).</a:t>
            </a:r>
            <a:endParaRPr lang="en-US" sz="1600" i="1">
              <a:latin typeface="Calibri Light"/>
              <a:cs typeface="Calibri"/>
            </a:endParaRPr>
          </a:p>
          <a:p>
            <a:pPr marL="285750" indent="-285750">
              <a:buFont typeface="Arial"/>
              <a:buChar char="•"/>
            </a:pPr>
            <a:r>
              <a:rPr lang="en-US" sz="1600" i="1" dirty="0">
                <a:solidFill>
                  <a:srgbClr val="0F1115"/>
                </a:solidFill>
                <a:latin typeface="Calibri Light"/>
                <a:ea typeface="Calibri"/>
                <a:cs typeface="Calibri"/>
              </a:rPr>
              <a:t>Simple UI for crop, weather, market, and scheme queries.</a:t>
            </a:r>
            <a:endParaRPr lang="en-US" sz="1600" i="1">
              <a:latin typeface="Calibri Light"/>
              <a:cs typeface="Calibri"/>
            </a:endParaRPr>
          </a:p>
          <a:p>
            <a:pPr marL="285750" indent="-285750">
              <a:buFont typeface="Arial"/>
              <a:buChar char="•"/>
            </a:pPr>
            <a:r>
              <a:rPr lang="en-US" sz="1600" i="1" dirty="0">
                <a:solidFill>
                  <a:srgbClr val="0F1115"/>
                </a:solidFill>
                <a:latin typeface="Calibri Light"/>
                <a:ea typeface="Calibri"/>
                <a:cs typeface="Calibri"/>
              </a:rPr>
              <a:t>Visual dashboards: crop calendar, price trends, weather alerts.</a:t>
            </a:r>
            <a:endParaRPr lang="en-US" sz="1600" i="1">
              <a:latin typeface="Calibri Light"/>
              <a:cs typeface="Calibri"/>
            </a:endParaRPr>
          </a:p>
          <a:p>
            <a:r>
              <a:rPr lang="en-US" sz="1600" b="1" i="1" u="sng" dirty="0">
                <a:solidFill>
                  <a:srgbClr val="0F1115"/>
                </a:solidFill>
                <a:latin typeface="Calibri Light"/>
                <a:ea typeface="ＭＳ Ｐゴシック"/>
                <a:cs typeface="Calibri"/>
              </a:rPr>
              <a:t>Backend</a:t>
            </a:r>
            <a:endParaRPr lang="en-US" sz="1600" b="1" i="1" u="sng">
              <a:latin typeface="Calibri Light"/>
              <a:ea typeface="ＭＳ Ｐゴシック"/>
              <a:cs typeface="Calibri"/>
            </a:endParaRPr>
          </a:p>
          <a:p>
            <a:pPr marL="285750" indent="-285750">
              <a:buFont typeface="Arial"/>
              <a:buChar char="•"/>
            </a:pPr>
            <a:r>
              <a:rPr lang="en-US" sz="1600" i="1" dirty="0">
                <a:solidFill>
                  <a:srgbClr val="0F1115"/>
                </a:solidFill>
                <a:latin typeface="Calibri Light"/>
                <a:ea typeface="Calibri"/>
                <a:cs typeface="Calibri"/>
              </a:rPr>
              <a:t>AI Engine: NLP for query understanding, recommendation system, predictive models.</a:t>
            </a:r>
            <a:endParaRPr lang="en-US" sz="1600" i="1">
              <a:latin typeface="Calibri Light"/>
              <a:cs typeface="Calibri"/>
            </a:endParaRPr>
          </a:p>
          <a:p>
            <a:pPr marL="285750" indent="-285750">
              <a:buFont typeface="Arial"/>
              <a:buChar char="•"/>
            </a:pPr>
            <a:r>
              <a:rPr lang="en-US" sz="1600" i="1" dirty="0">
                <a:solidFill>
                  <a:srgbClr val="0F1115"/>
                </a:solidFill>
                <a:latin typeface="Calibri Light"/>
                <a:ea typeface="Calibri"/>
                <a:cs typeface="Calibri"/>
              </a:rPr>
              <a:t>Knowledge Base: Crops, soil, diseases, market.</a:t>
            </a:r>
            <a:endParaRPr lang="en-US" sz="1600" i="1">
              <a:latin typeface="Calibri Light"/>
              <a:cs typeface="Calibri"/>
            </a:endParaRPr>
          </a:p>
          <a:p>
            <a:pPr marL="285750" indent="-285750">
              <a:buFont typeface="Arial"/>
              <a:buChar char="•"/>
            </a:pPr>
            <a:r>
              <a:rPr lang="en-US" sz="1600" i="1" dirty="0">
                <a:solidFill>
                  <a:srgbClr val="0F1115"/>
                </a:solidFill>
                <a:latin typeface="Calibri Light"/>
                <a:ea typeface="Calibri"/>
                <a:cs typeface="Calibri"/>
              </a:rPr>
              <a:t>APIs &amp; Services: Real-time weather API, market data API, IoT integration.</a:t>
            </a:r>
            <a:endParaRPr lang="en-US" sz="1600" i="1">
              <a:latin typeface="Calibri Light"/>
              <a:cs typeface="Calibri"/>
            </a:endParaRPr>
          </a:p>
          <a:p>
            <a:pPr marL="285750" indent="-285750">
              <a:buFont typeface="Arial"/>
              <a:buChar char="•"/>
            </a:pPr>
            <a:r>
              <a:rPr lang="en-US" sz="1600" i="1" dirty="0">
                <a:solidFill>
                  <a:srgbClr val="0F1115"/>
                </a:solidFill>
                <a:latin typeface="Calibri Light"/>
                <a:ea typeface="Calibri"/>
                <a:cs typeface="Calibri"/>
              </a:rPr>
              <a:t>Database &amp; Security: Cloud storage for farmer profiles &amp; logs, encrypted data handling.</a:t>
            </a:r>
            <a:endParaRPr lang="en-US" sz="1600" i="1">
              <a:latin typeface="Calibri Light"/>
              <a:cs typeface="Calibri"/>
            </a:endParaRPr>
          </a:p>
          <a:p>
            <a:r>
              <a:rPr lang="en-US" sz="1600" b="1" i="1" u="sng" dirty="0">
                <a:solidFill>
                  <a:srgbClr val="0F1115"/>
                </a:solidFill>
                <a:latin typeface="Calibri Light"/>
                <a:ea typeface="ＭＳ Ｐゴシック"/>
                <a:cs typeface="Calibri"/>
              </a:rPr>
              <a:t>Integration &amp; Services</a:t>
            </a:r>
            <a:endParaRPr lang="en-US" sz="1600" b="1" i="1" u="sng">
              <a:latin typeface="Calibri Light"/>
              <a:ea typeface="ＭＳ Ｐゴシック"/>
              <a:cs typeface="Calibri"/>
            </a:endParaRPr>
          </a:p>
          <a:p>
            <a:pPr marL="285750" indent="-285750">
              <a:buFont typeface="Arial"/>
              <a:buChar char="•"/>
            </a:pPr>
            <a:r>
              <a:rPr lang="en-US" sz="1600" i="1" dirty="0">
                <a:solidFill>
                  <a:srgbClr val="0F1115"/>
                </a:solidFill>
                <a:latin typeface="Calibri Light"/>
                <a:ea typeface="Calibri"/>
                <a:cs typeface="Calibri"/>
              </a:rPr>
              <a:t>APIs &amp; Cloud Storage → real-time weather, market data, and scalable backend.</a:t>
            </a:r>
            <a:endParaRPr lang="en-US" sz="1600" i="1">
              <a:latin typeface="Calibri Light"/>
              <a:cs typeface="Calibri"/>
            </a:endParaRPr>
          </a:p>
          <a:p>
            <a:pPr marL="285750" indent="-285750">
              <a:buFont typeface="Arial"/>
              <a:buChar char="•"/>
            </a:pPr>
            <a:r>
              <a:rPr lang="en-US" sz="1600" i="1" dirty="0">
                <a:solidFill>
                  <a:srgbClr val="0F1115"/>
                </a:solidFill>
                <a:latin typeface="Calibri Light"/>
                <a:ea typeface="Calibri"/>
                <a:cs typeface="Calibri"/>
              </a:rPr>
              <a:t>AI/ML Models → NLP for chatbot queries, image recognition for disease detection.</a:t>
            </a:r>
            <a:endParaRPr lang="en-US" sz="1600" i="1">
              <a:latin typeface="Calibri Light"/>
              <a:cs typeface="Calibri"/>
            </a:endParaRPr>
          </a:p>
          <a:p>
            <a:br>
              <a:rPr lang="en-US" dirty="0"/>
            </a:br>
            <a:endParaRPr lang="en-US"/>
          </a:p>
        </p:txBody>
      </p:sp>
      <p:pic>
        <p:nvPicPr>
          <p:cNvPr id="2" name="Picture 1" descr="A diagram of a chatbot&#10;&#10;AI-generated content may be incorrect.">
            <a:extLst>
              <a:ext uri="{FF2B5EF4-FFF2-40B4-BE49-F238E27FC236}">
                <a16:creationId xmlns:a16="http://schemas.microsoft.com/office/drawing/2014/main" id="{2DCB051B-BB57-5450-352A-44085835F409}"/>
              </a:ext>
            </a:extLst>
          </p:cNvPr>
          <p:cNvPicPr>
            <a:picLocks noChangeAspect="1"/>
          </p:cNvPicPr>
          <p:nvPr/>
        </p:nvPicPr>
        <p:blipFill>
          <a:blip r:embed="rId4"/>
          <a:srcRect r="-101" b="7674"/>
          <a:stretch>
            <a:fillRect/>
          </a:stretch>
        </p:blipFill>
        <p:spPr>
          <a:xfrm>
            <a:off x="6767640" y="1285875"/>
            <a:ext cx="5273407" cy="44618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399027" y="-219992"/>
            <a:ext cx="10972800" cy="1143000"/>
          </a:xfrm>
        </p:spPr>
        <p:txBody>
          <a:bodyPr/>
          <a:lstStyle/>
          <a:p>
            <a:pPr eaLnBrk="1" hangingPunct="1"/>
            <a:r>
              <a:rPr lang="en-US" sz="3600" b="1" u="sng">
                <a:latin typeface="Times New Roman"/>
                <a:ea typeface="ＭＳ Ｐゴシック"/>
                <a:cs typeface="Times New Roman"/>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216503" y="56597"/>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lang="en-US" b="1" i="1" dirty="0">
                <a:ea typeface="Calibri"/>
                <a:cs typeface="Calibri"/>
              </a:rPr>
              <a:t>Sprout7</a:t>
            </a:r>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2381C89-D598-3D44-9209-7B0D1200C930}"/>
              </a:ext>
            </a:extLst>
          </p:cNvPr>
          <p:cNvSpPr txBox="1"/>
          <p:nvPr/>
        </p:nvSpPr>
        <p:spPr>
          <a:xfrm>
            <a:off x="214184" y="87321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b="1" u="sng" dirty="0">
                <a:latin typeface="Arial"/>
                <a:ea typeface="ＭＳ Ｐゴシック"/>
                <a:cs typeface="Arial"/>
              </a:rPr>
              <a:t>Feasibility</a:t>
            </a:r>
            <a:endParaRPr lang="en-US">
              <a:cs typeface="Calibri" pitchFamily="34" charset="0"/>
            </a:endParaRPr>
          </a:p>
        </p:txBody>
      </p:sp>
      <p:sp>
        <p:nvSpPr>
          <p:cNvPr id="8" name="Flowchart: Alternate Process 7">
            <a:extLst>
              <a:ext uri="{FF2B5EF4-FFF2-40B4-BE49-F238E27FC236}">
                <a16:creationId xmlns:a16="http://schemas.microsoft.com/office/drawing/2014/main" id="{9653DCA0-1D53-99D5-C003-871AC832F021}"/>
              </a:ext>
            </a:extLst>
          </p:cNvPr>
          <p:cNvSpPr/>
          <p:nvPr/>
        </p:nvSpPr>
        <p:spPr>
          <a:xfrm>
            <a:off x="212121" y="1233994"/>
            <a:ext cx="6465421" cy="2202704"/>
          </a:xfrm>
          <a:prstGeom prst="flowChartAlternateProcess">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buFont typeface="Arial"/>
              <a:buChar char="•"/>
            </a:pPr>
            <a:r>
              <a:rPr lang="en-US" sz="1400" b="1" i="1" u="sng" dirty="0">
                <a:latin typeface="Calibri Light"/>
                <a:ea typeface="Calibri Light"/>
                <a:cs typeface="Calibri Light"/>
              </a:rPr>
              <a:t>Technical Feasibility </a:t>
            </a:r>
          </a:p>
          <a:p>
            <a:pPr>
              <a:buFont typeface="Arial"/>
              <a:buChar char="•"/>
            </a:pPr>
            <a:r>
              <a:rPr lang="en-US" sz="1400" i="1" dirty="0">
                <a:latin typeface="Calibri Light"/>
                <a:ea typeface="Calibri Light"/>
                <a:cs typeface="Calibri Light"/>
              </a:rPr>
              <a:t>Govt. data available: IMD (weather), Soil Health Card (soil), Ag-market (prices). </a:t>
            </a:r>
          </a:p>
          <a:p>
            <a:pPr>
              <a:buFont typeface="Arial"/>
              <a:buChar char="•"/>
            </a:pPr>
            <a:r>
              <a:rPr lang="en-US" sz="1400" i="1" dirty="0">
                <a:latin typeface="Calibri Light"/>
                <a:ea typeface="Calibri Light"/>
                <a:cs typeface="Calibri Light"/>
              </a:rPr>
              <a:t>KAU provides expert knowledge &amp; crop calendars. </a:t>
            </a:r>
          </a:p>
          <a:p>
            <a:pPr>
              <a:buFont typeface="Arial"/>
              <a:buChar char="•"/>
            </a:pPr>
            <a:r>
              <a:rPr lang="en-US" sz="1400" i="1" dirty="0">
                <a:latin typeface="Calibri Light"/>
                <a:ea typeface="Calibri Light"/>
                <a:cs typeface="Calibri Light"/>
              </a:rPr>
              <a:t>Accessible via WhatsApp &amp; IVR for both smartphone &amp; feature phone users. </a:t>
            </a:r>
          </a:p>
          <a:p>
            <a:pPr>
              <a:buFont typeface="Arial"/>
              <a:buChar char="•"/>
            </a:pPr>
            <a:r>
              <a:rPr lang="en-US" sz="1400" b="1" i="1" u="sng" dirty="0">
                <a:latin typeface="Calibri Light"/>
                <a:ea typeface="Calibri Light"/>
                <a:cs typeface="Calibri Light"/>
              </a:rPr>
              <a:t>Social Feasibility</a:t>
            </a:r>
            <a:r>
              <a:rPr lang="en-US" sz="1400" i="1" dirty="0">
                <a:latin typeface="Calibri Light"/>
                <a:ea typeface="Calibri Light"/>
                <a:cs typeface="Calibri Light"/>
              </a:rPr>
              <a:t> </a:t>
            </a:r>
          </a:p>
          <a:p>
            <a:pPr>
              <a:buFont typeface="Arial"/>
              <a:buChar char="•"/>
            </a:pPr>
            <a:r>
              <a:rPr lang="en-US" sz="1400" i="1" dirty="0">
                <a:latin typeface="Calibri Light"/>
                <a:ea typeface="Calibri Light"/>
                <a:cs typeface="Calibri Light"/>
              </a:rPr>
              <a:t>Kerala: high mobile penetration &amp; digital literacy. </a:t>
            </a:r>
          </a:p>
          <a:p>
            <a:pPr>
              <a:buFont typeface="Arial"/>
              <a:buChar char="•"/>
            </a:pPr>
            <a:r>
              <a:rPr lang="en-US" sz="1400" i="1" dirty="0">
                <a:latin typeface="Calibri Light"/>
                <a:ea typeface="Calibri Light"/>
                <a:cs typeface="Calibri Light"/>
              </a:rPr>
              <a:t>Scope for PPP: ag-input firms fund targeted advisories to subsidize free farmer services.</a:t>
            </a:r>
            <a:endParaRPr lang="en-US" sz="1400" i="1" dirty="0">
              <a:solidFill>
                <a:srgbClr val="000000"/>
              </a:solidFill>
              <a:latin typeface="Calibri Light"/>
              <a:ea typeface="Calibri Light"/>
              <a:cs typeface="Calibri Light"/>
            </a:endParaRPr>
          </a:p>
        </p:txBody>
      </p:sp>
      <p:sp>
        <p:nvSpPr>
          <p:cNvPr id="16" name="TextBox 15">
            <a:extLst>
              <a:ext uri="{FF2B5EF4-FFF2-40B4-BE49-F238E27FC236}">
                <a16:creationId xmlns:a16="http://schemas.microsoft.com/office/drawing/2014/main" id="{6E847E65-81BF-7D1F-4F68-540D905880EB}"/>
              </a:ext>
            </a:extLst>
          </p:cNvPr>
          <p:cNvSpPr txBox="1"/>
          <p:nvPr/>
        </p:nvSpPr>
        <p:spPr>
          <a:xfrm>
            <a:off x="214183" y="343723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b="1" u="sng" dirty="0">
                <a:latin typeface="Calibri"/>
                <a:ea typeface="ＭＳ Ｐゴシック"/>
                <a:cs typeface="Times New Roman"/>
              </a:rPr>
              <a:t>Viability</a:t>
            </a:r>
            <a:endParaRPr lang="en-US" b="1" u="sng" dirty="0">
              <a:latin typeface="Calibri"/>
              <a:ea typeface="ＭＳ Ｐゴシック"/>
              <a:cs typeface="Calibri"/>
            </a:endParaRPr>
          </a:p>
        </p:txBody>
      </p:sp>
      <p:sp>
        <p:nvSpPr>
          <p:cNvPr id="13" name="Rectangle: Rounded Corners 12">
            <a:extLst>
              <a:ext uri="{FF2B5EF4-FFF2-40B4-BE49-F238E27FC236}">
                <a16:creationId xmlns:a16="http://schemas.microsoft.com/office/drawing/2014/main" id="{FF713306-7831-0DBE-0085-54D854CB06DF}"/>
              </a:ext>
            </a:extLst>
          </p:cNvPr>
          <p:cNvSpPr/>
          <p:nvPr/>
        </p:nvSpPr>
        <p:spPr>
          <a:xfrm>
            <a:off x="218536" y="3906328"/>
            <a:ext cx="6636588" cy="2452777"/>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marL="171450" lvl="0" indent="-171450" rtl="0">
              <a:lnSpc>
                <a:spcPts val="975"/>
              </a:lnSpc>
              <a:buFont typeface="Arial"/>
              <a:buChar char="•"/>
            </a:pPr>
            <a:r>
              <a:rPr lang="en-US" sz="1200" i="1" baseline="0" dirty="0">
                <a:solidFill>
                  <a:schemeClr val="tx1"/>
                </a:solidFill>
                <a:latin typeface="Calibri Light"/>
                <a:ea typeface="Arial"/>
                <a:cs typeface="Arial"/>
              </a:rPr>
              <a:t>The potential benefits—increased crop yields, reduced input costs, prevented crop losses, and more efficient subsidy distribution—can far outweigh the development and operational costs of the platform. This strong positive ROI makes it an attractive investment for a government </a:t>
            </a:r>
            <a:r>
              <a:rPr lang="en-US" sz="1200" dirty="0">
                <a:solidFill>
                  <a:schemeClr val="tx1"/>
                </a:solidFill>
                <a:latin typeface="Calibri Light"/>
                <a:ea typeface="Arial"/>
                <a:cs typeface="Arial"/>
              </a:rPr>
              <a:t>​</a:t>
            </a:r>
            <a:endParaRPr lang="en-US">
              <a:ea typeface="Calibri"/>
              <a:cs typeface="Calibri"/>
            </a:endParaRPr>
          </a:p>
          <a:p>
            <a:pPr marL="171450" indent="-171450">
              <a:lnSpc>
                <a:spcPts val="975"/>
              </a:lnSpc>
              <a:buFont typeface="Arial"/>
              <a:buChar char="•"/>
            </a:pPr>
            <a:endParaRPr lang="en-US" sz="1200" dirty="0">
              <a:solidFill>
                <a:schemeClr val="tx1"/>
              </a:solidFill>
              <a:latin typeface="Calibri Light"/>
              <a:ea typeface="Segoe UI"/>
              <a:cs typeface="Arial"/>
            </a:endParaRPr>
          </a:p>
          <a:p>
            <a:pPr>
              <a:lnSpc>
                <a:spcPts val="975"/>
              </a:lnSpc>
            </a:pPr>
            <a:r>
              <a:rPr lang="en-US" sz="1200" i="1" baseline="0">
                <a:solidFill>
                  <a:schemeClr val="tx1"/>
                </a:solidFill>
                <a:latin typeface="Calibri Light"/>
                <a:ea typeface="Segoe UI"/>
                <a:cs typeface="Segoe UI"/>
              </a:rPr>
              <a:t>• The app can be designed to be lightweight, with offline capabilities for key features (e.g., logging</a:t>
            </a:r>
            <a:endParaRPr lang="en-US" sz="1200" i="1">
              <a:solidFill>
                <a:schemeClr val="tx1"/>
              </a:solidFill>
              <a:latin typeface="Calibri Light"/>
              <a:ea typeface="Segoe UI"/>
              <a:cs typeface="Segoe UI"/>
            </a:endParaRPr>
          </a:p>
          <a:p>
            <a:pPr>
              <a:lnSpc>
                <a:spcPts val="975"/>
              </a:lnSpc>
            </a:pPr>
            <a:r>
              <a:rPr lang="en-US" sz="1200" i="1">
                <a:solidFill>
                  <a:schemeClr val="tx1"/>
                </a:solidFill>
                <a:latin typeface="Calibri Light"/>
                <a:ea typeface="Segoe UI"/>
                <a:cs typeface="Segoe UI"/>
              </a:rPr>
              <a:t>    </a:t>
            </a:r>
            <a:r>
              <a:rPr lang="en-US" sz="1200" i="1" baseline="0">
                <a:solidFill>
                  <a:schemeClr val="tx1"/>
                </a:solidFill>
                <a:latin typeface="Calibri Light"/>
                <a:ea typeface="Segoe UI"/>
                <a:cs typeface="Segoe UI"/>
              </a:rPr>
              <a:t>activities, accessing basic info) and data-sync when connected, making it viable in areas with poor</a:t>
            </a:r>
            <a:endParaRPr lang="en-US">
              <a:solidFill>
                <a:schemeClr val="tx1"/>
              </a:solidFill>
              <a:latin typeface="Calibri"/>
              <a:ea typeface="Calibri"/>
              <a:cs typeface="Calibri"/>
            </a:endParaRPr>
          </a:p>
          <a:p>
            <a:pPr>
              <a:lnSpc>
                <a:spcPts val="975"/>
              </a:lnSpc>
            </a:pPr>
            <a:r>
              <a:rPr lang="en-US" sz="1200" i="1" dirty="0">
                <a:solidFill>
                  <a:schemeClr val="tx1"/>
                </a:solidFill>
                <a:latin typeface="Calibri Light"/>
                <a:ea typeface="Segoe UI"/>
                <a:cs typeface="Segoe UI"/>
              </a:rPr>
              <a:t>    </a:t>
            </a:r>
            <a:r>
              <a:rPr lang="en-US" sz="1200" i="1" baseline="0" dirty="0">
                <a:solidFill>
                  <a:schemeClr val="tx1"/>
                </a:solidFill>
                <a:latin typeface="Calibri Light"/>
                <a:ea typeface="Segoe UI"/>
                <a:cs typeface="Segoe UI"/>
              </a:rPr>
              <a:t>connectivity. </a:t>
            </a:r>
            <a:r>
              <a:rPr lang="en-US" sz="1200" dirty="0">
                <a:solidFill>
                  <a:schemeClr val="tx1"/>
                </a:solidFill>
                <a:latin typeface="Calibri Light"/>
                <a:ea typeface="Segoe UI"/>
                <a:cs typeface="Segoe UI"/>
              </a:rPr>
              <a:t>​</a:t>
            </a:r>
            <a:endParaRPr lang="en-US">
              <a:solidFill>
                <a:schemeClr val="tx1"/>
              </a:solidFill>
              <a:ea typeface="Calibri"/>
              <a:cs typeface="Calibri"/>
            </a:endParaRPr>
          </a:p>
          <a:p>
            <a:pPr>
              <a:lnSpc>
                <a:spcPts val="975"/>
              </a:lnSpc>
            </a:pPr>
            <a:endParaRPr lang="en-US" sz="1200" dirty="0">
              <a:solidFill>
                <a:schemeClr val="tx1"/>
              </a:solidFill>
              <a:latin typeface="Calibri Light"/>
              <a:ea typeface="Segoe UI"/>
              <a:cs typeface="Segoe UI"/>
            </a:endParaRPr>
          </a:p>
          <a:p>
            <a:pPr>
              <a:lnSpc>
                <a:spcPts val="975"/>
              </a:lnSpc>
            </a:pPr>
            <a:r>
              <a:rPr lang="en-US" sz="1200" i="1" baseline="0">
                <a:solidFill>
                  <a:schemeClr val="tx1"/>
                </a:solidFill>
                <a:latin typeface="Calibri Light"/>
                <a:ea typeface="Segoe UI"/>
                <a:cs typeface="Segoe UI"/>
              </a:rPr>
              <a:t>• Promoting timely and precise application of water, fertilizers, and pesticides directly contributes to</a:t>
            </a:r>
            <a:endParaRPr lang="en-US" sz="1200" i="1">
              <a:solidFill>
                <a:schemeClr val="tx1"/>
              </a:solidFill>
              <a:latin typeface="Calibri Light"/>
              <a:ea typeface="Segoe UI"/>
              <a:cs typeface="Segoe UI"/>
            </a:endParaRPr>
          </a:p>
          <a:p>
            <a:pPr>
              <a:lnSpc>
                <a:spcPts val="975"/>
              </a:lnSpc>
            </a:pPr>
            <a:r>
              <a:rPr lang="en-US" sz="1200" i="1" dirty="0">
                <a:solidFill>
                  <a:schemeClr val="tx1"/>
                </a:solidFill>
                <a:latin typeface="Calibri Light"/>
                <a:ea typeface="Segoe UI"/>
                <a:cs typeface="Segoe UI"/>
              </a:rPr>
              <a:t>   </a:t>
            </a:r>
            <a:r>
              <a:rPr lang="en-US" sz="1200" i="1" baseline="0" dirty="0">
                <a:solidFill>
                  <a:schemeClr val="tx1"/>
                </a:solidFill>
                <a:latin typeface="Calibri Light"/>
                <a:ea typeface="Segoe UI"/>
                <a:cs typeface="Segoe UI"/>
              </a:rPr>
              <a:t>more sustainable and climate-resilient farming practices, a key goal for the state. </a:t>
            </a:r>
            <a:r>
              <a:rPr lang="en-US" sz="1200" dirty="0">
                <a:solidFill>
                  <a:schemeClr val="tx1"/>
                </a:solidFill>
                <a:latin typeface="Calibri Light"/>
                <a:ea typeface="Segoe UI"/>
                <a:cs typeface="Segoe UI"/>
              </a:rPr>
              <a:t>​</a:t>
            </a:r>
            <a:endParaRPr lang="en-US">
              <a:solidFill>
                <a:schemeClr val="tx1"/>
              </a:solidFill>
            </a:endParaRPr>
          </a:p>
          <a:p>
            <a:pPr>
              <a:lnSpc>
                <a:spcPts val="975"/>
              </a:lnSpc>
            </a:pPr>
            <a:endParaRPr lang="en-US" sz="1200" dirty="0">
              <a:solidFill>
                <a:schemeClr val="tx1"/>
              </a:solidFill>
              <a:latin typeface="Calibri Light"/>
              <a:ea typeface="Segoe UI"/>
              <a:cs typeface="Segoe UI"/>
            </a:endParaRPr>
          </a:p>
          <a:p>
            <a:pPr>
              <a:lnSpc>
                <a:spcPts val="975"/>
              </a:lnSpc>
            </a:pPr>
            <a:r>
              <a:rPr lang="en-US" sz="1200" i="1" baseline="0" dirty="0">
                <a:solidFill>
                  <a:schemeClr val="tx1"/>
                </a:solidFill>
                <a:latin typeface="Calibri Light"/>
                <a:ea typeface="Segoe UI"/>
                <a:cs typeface="Segoe UI"/>
              </a:rPr>
              <a:t>• The system becomes more valuable over time. The data collected on local conditions, farmer</a:t>
            </a:r>
            <a:endParaRPr lang="en-US" sz="1200">
              <a:solidFill>
                <a:schemeClr val="tx1"/>
              </a:solidFill>
              <a:latin typeface="Calibri"/>
              <a:ea typeface="Calibri"/>
              <a:cs typeface="Calibri"/>
            </a:endParaRPr>
          </a:p>
          <a:p>
            <a:pPr>
              <a:lnSpc>
                <a:spcPts val="975"/>
              </a:lnSpc>
            </a:pPr>
            <a:r>
              <a:rPr lang="en-US" sz="1200" i="1">
                <a:solidFill>
                  <a:schemeClr val="tx1"/>
                </a:solidFill>
                <a:latin typeface="Calibri Light"/>
                <a:ea typeface="Segoe UI"/>
                <a:cs typeface="Segoe UI"/>
              </a:rPr>
              <a:t>    </a:t>
            </a:r>
            <a:r>
              <a:rPr lang="en-US" sz="1200" i="1" baseline="0">
                <a:solidFill>
                  <a:schemeClr val="tx1"/>
                </a:solidFill>
                <a:latin typeface="Calibri Light"/>
                <a:ea typeface="Segoe UI"/>
                <a:cs typeface="Segoe UI"/>
              </a:rPr>
              <a:t>practices, and outcomes creates a powerful, hyper-local knowledge repository that continuously</a:t>
            </a:r>
            <a:endParaRPr lang="en-US" sz="1200">
              <a:solidFill>
                <a:schemeClr val="tx1"/>
              </a:solidFill>
              <a:latin typeface="Calibri"/>
              <a:ea typeface="Calibri"/>
              <a:cs typeface="Calibri"/>
            </a:endParaRPr>
          </a:p>
          <a:p>
            <a:pPr>
              <a:lnSpc>
                <a:spcPts val="975"/>
              </a:lnSpc>
            </a:pPr>
            <a:r>
              <a:rPr lang="en-US" sz="1200" i="1" dirty="0">
                <a:solidFill>
                  <a:schemeClr val="tx1"/>
                </a:solidFill>
                <a:latin typeface="Calibri Light"/>
                <a:ea typeface="Segoe UI"/>
                <a:cs typeface="Segoe UI"/>
              </a:rPr>
              <a:t>    </a:t>
            </a:r>
            <a:r>
              <a:rPr lang="en-US" sz="1200" i="1" baseline="0" dirty="0">
                <a:solidFill>
                  <a:schemeClr val="tx1"/>
                </a:solidFill>
                <a:latin typeface="Calibri Light"/>
                <a:ea typeface="Segoe UI"/>
                <a:cs typeface="Segoe UI"/>
              </a:rPr>
              <a:t>improves the AI's advice, creating a virtuous cycle.</a:t>
            </a:r>
            <a:r>
              <a:rPr lang="en-US" sz="1200" dirty="0">
                <a:solidFill>
                  <a:schemeClr val="tx1"/>
                </a:solidFill>
                <a:latin typeface="Calibri Light"/>
                <a:ea typeface="Segoe UI"/>
                <a:cs typeface="Segoe UI"/>
              </a:rPr>
              <a:t>​</a:t>
            </a:r>
            <a:endParaRPr lang="en-US" sz="1200">
              <a:solidFill>
                <a:schemeClr val="tx1"/>
              </a:solidFill>
              <a:ea typeface="Calibri"/>
              <a:cs typeface="Calibri"/>
            </a:endParaRPr>
          </a:p>
        </p:txBody>
      </p:sp>
      <p:pic>
        <p:nvPicPr>
          <p:cNvPr id="14" name="Picture 13">
            <a:extLst>
              <a:ext uri="{FF2B5EF4-FFF2-40B4-BE49-F238E27FC236}">
                <a16:creationId xmlns:a16="http://schemas.microsoft.com/office/drawing/2014/main" id="{90846017-5FD9-613B-A2B0-7E2F4D34D3A1}"/>
              </a:ext>
            </a:extLst>
          </p:cNvPr>
          <p:cNvPicPr>
            <a:picLocks noChangeAspect="1"/>
          </p:cNvPicPr>
          <p:nvPr/>
        </p:nvPicPr>
        <p:blipFill>
          <a:blip r:embed="rId4"/>
          <a:srcRect r="-283" b="3883"/>
          <a:stretch>
            <a:fillRect/>
          </a:stretch>
        </p:blipFill>
        <p:spPr>
          <a:xfrm>
            <a:off x="7088756" y="1595885"/>
            <a:ext cx="5116939" cy="4270081"/>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u="sng">
                <a:latin typeface="Times New Roman"/>
                <a:ea typeface="ＭＳ Ｐゴシック"/>
                <a:cs typeface="Times New Roman"/>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226800" y="211057"/>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lang="en-US" b="1" i="1" dirty="0">
                <a:ea typeface="Calibri"/>
                <a:cs typeface="Calibri"/>
              </a:rPr>
              <a:t>Sprout</a:t>
            </a:r>
          </a:p>
          <a:p>
            <a:pPr algn="ctr"/>
            <a:r>
              <a:rPr lang="en-US" dirty="0">
                <a:ea typeface="Calibri"/>
                <a:cs typeface="Calibri"/>
              </a:rPr>
              <a:t>7</a:t>
            </a:r>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357973E-0376-0652-3570-FBDF7728B060}"/>
              </a:ext>
            </a:extLst>
          </p:cNvPr>
          <p:cNvSpPr txBox="1"/>
          <p:nvPr/>
        </p:nvSpPr>
        <p:spPr>
          <a:xfrm>
            <a:off x="440724" y="1099752"/>
            <a:ext cx="11640063" cy="27392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1600" b="1" u="sng">
              <a:solidFill>
                <a:srgbClr val="0F1115"/>
              </a:solidFill>
              <a:latin typeface="Arial"/>
              <a:ea typeface="ＭＳ Ｐゴシック"/>
              <a:cs typeface="Arial"/>
            </a:endParaRPr>
          </a:p>
          <a:p>
            <a:pPr marL="228600" indent="-228600">
              <a:buFont typeface="Arial"/>
              <a:buChar char="•"/>
            </a:pPr>
            <a:r>
              <a:rPr lang="en-US" sz="1200" b="1" u="sng" dirty="0">
                <a:solidFill>
                  <a:srgbClr val="0F1115"/>
                </a:solidFill>
                <a:latin typeface="Arial"/>
                <a:ea typeface="ＭＳ Ｐゴシック"/>
                <a:cs typeface="Arial"/>
              </a:rPr>
              <a:t>Direct impacts :</a:t>
            </a:r>
            <a:r>
              <a:rPr lang="en-US" sz="1200" dirty="0">
                <a:solidFill>
                  <a:srgbClr val="0F1115"/>
                </a:solidFill>
                <a:latin typeface="quote-cjk-patch"/>
                <a:ea typeface="ＭＳ Ｐゴシック"/>
              </a:rPr>
              <a:t> </a:t>
            </a:r>
            <a:r>
              <a:rPr lang="en-US" sz="1200" i="1" dirty="0">
                <a:solidFill>
                  <a:srgbClr val="0F1115"/>
                </a:solidFill>
                <a:latin typeface="Calibri Light"/>
                <a:ea typeface="ＭＳ Ｐゴシック"/>
                <a:cs typeface="Calibri Light"/>
              </a:rPr>
              <a:t>Early warnings for weather anomalies (heavy rain, drought), pest outbreaks, and disease spread allow farmers to take preventive measures, reducing crop losses and ensuring farm resilience.</a:t>
            </a:r>
            <a:endParaRPr lang="en-US" sz="1200">
              <a:cs typeface="Calibri" pitchFamily="34" charset="0"/>
            </a:endParaRPr>
          </a:p>
          <a:p>
            <a:pPr marL="228600" indent="-228600">
              <a:buFont typeface="Arial"/>
              <a:buChar char="•"/>
            </a:pPr>
            <a:endParaRPr lang="en-US" sz="1200" i="1" dirty="0">
              <a:solidFill>
                <a:srgbClr val="0F1115"/>
              </a:solidFill>
              <a:latin typeface="Calibri Light"/>
              <a:ea typeface="ＭＳ Ｐゴシック"/>
              <a:cs typeface="Calibri Light"/>
            </a:endParaRPr>
          </a:p>
          <a:p>
            <a:pPr marL="228600" indent="-228600">
              <a:buFont typeface="Arial"/>
              <a:buChar char="•"/>
            </a:pPr>
            <a:r>
              <a:rPr lang="en-US" sz="1200" b="1" u="sng" dirty="0">
                <a:solidFill>
                  <a:srgbClr val="0F1115"/>
                </a:solidFill>
                <a:latin typeface="Arial"/>
                <a:ea typeface="ＭＳ Ｐゴシック"/>
                <a:cs typeface="Calibri Light"/>
              </a:rPr>
              <a:t>Development impact :</a:t>
            </a:r>
            <a:r>
              <a:rPr lang="en-US" sz="1200" i="1" dirty="0">
                <a:solidFill>
                  <a:srgbClr val="0F1115"/>
                </a:solidFill>
                <a:latin typeface="Calibri Light"/>
                <a:ea typeface="Calibri"/>
                <a:cs typeface="Calibri"/>
              </a:rPr>
              <a:t> By maintaining a digital record of farming activities, the assistant can automatically alert farmers to government subsidies, insurance schemes, and loan programs they are eligible for, and even help compile the necessary documentation. This bridges a critical gap in last-mile delivery of benefits.</a:t>
            </a:r>
          </a:p>
          <a:p>
            <a:pPr marL="228600" indent="-228600">
              <a:buFont typeface="Arial"/>
              <a:buChar char="•"/>
            </a:pPr>
            <a:endParaRPr lang="en-US" sz="1200" i="1" dirty="0">
              <a:solidFill>
                <a:srgbClr val="0F1115"/>
              </a:solidFill>
              <a:latin typeface="Calibri Light"/>
              <a:ea typeface="Calibri"/>
              <a:cs typeface="Calibri"/>
            </a:endParaRPr>
          </a:p>
          <a:p>
            <a:pPr marL="285750" indent="-285750">
              <a:buFont typeface="Arial"/>
              <a:buChar char="•"/>
            </a:pPr>
            <a:r>
              <a:rPr lang="en-US" sz="1200" b="1" u="sng" dirty="0">
                <a:solidFill>
                  <a:srgbClr val="0F1115"/>
                </a:solidFill>
                <a:latin typeface="Arial"/>
                <a:ea typeface="Calibri"/>
                <a:cs typeface="Calibri"/>
              </a:rPr>
              <a:t>Sustainable impact :</a:t>
            </a:r>
            <a:r>
              <a:rPr lang="en-US" sz="1200" i="1" dirty="0">
                <a:solidFill>
                  <a:srgbClr val="0F1115"/>
                </a:solidFill>
                <a:latin typeface="Calibri Light"/>
                <a:ea typeface="Calibri"/>
                <a:cs typeface="Calibri"/>
              </a:rPr>
              <a:t>The knowledge engine can be programmed to promote integrated pest management (IPM), organic farming techniques, and crop diversification, aligning with Kerala's focus on sustainable agriculture.</a:t>
            </a:r>
          </a:p>
          <a:p>
            <a:pPr marL="285750" indent="-285750">
              <a:buFont typeface="Arial"/>
              <a:buChar char="•"/>
            </a:pPr>
            <a:endParaRPr lang="en-US" sz="1200" i="1" dirty="0">
              <a:solidFill>
                <a:srgbClr val="0F1115"/>
              </a:solidFill>
              <a:latin typeface="Calibri Light"/>
              <a:ea typeface="Calibri"/>
              <a:cs typeface="Calibri"/>
            </a:endParaRPr>
          </a:p>
          <a:p>
            <a:pPr marL="228600" indent="-228600">
              <a:buFont typeface="Arial"/>
              <a:buChar char="•"/>
            </a:pPr>
            <a:r>
              <a:rPr lang="en-US" sz="1200" b="1" u="sng" dirty="0">
                <a:solidFill>
                  <a:srgbClr val="0F1115"/>
                </a:solidFill>
                <a:latin typeface="Arial"/>
                <a:ea typeface="ＭＳ Ｐゴシック"/>
                <a:cs typeface="Arial"/>
              </a:rPr>
              <a:t>Impact on Agricultural Ecosystem &amp; Policy : </a:t>
            </a:r>
            <a:r>
              <a:rPr lang="en-US" sz="1200" i="1" dirty="0">
                <a:solidFill>
                  <a:srgbClr val="0F1115"/>
                </a:solidFill>
                <a:latin typeface="Calibri Light"/>
                <a:ea typeface="Calibri"/>
                <a:cs typeface="Calibri"/>
              </a:rPr>
              <a:t>By improving the profitability and sustainability of smallholder farms, the initiative helps preserve agriculture as a viable livelihood, preventing migration from rural areas and strengthening local economies.</a:t>
            </a:r>
          </a:p>
          <a:p>
            <a:pPr marL="228600" indent="-228600">
              <a:buFont typeface="Arial"/>
              <a:buChar char="•"/>
            </a:pPr>
            <a:endParaRPr lang="en-US" sz="1200" dirty="0">
              <a:solidFill>
                <a:srgbClr val="0F1115"/>
              </a:solidFill>
              <a:latin typeface="Calibri"/>
              <a:ea typeface="Calibri"/>
              <a:cs typeface="Calibri"/>
            </a:endParaRPr>
          </a:p>
          <a:p>
            <a:pPr marL="228600" indent="-228600">
              <a:buFont typeface="Arial"/>
              <a:buChar char="•"/>
            </a:pPr>
            <a:endParaRPr lang="en-US" sz="1200">
              <a:solidFill>
                <a:srgbClr val="0F1115"/>
              </a:solidFill>
              <a:latin typeface="Calibri"/>
              <a:ea typeface="Calibri"/>
              <a:cs typeface="Calibri"/>
            </a:endParaRPr>
          </a:p>
        </p:txBody>
      </p:sp>
      <p:sp>
        <p:nvSpPr>
          <p:cNvPr id="4" name="TextBox 3">
            <a:extLst>
              <a:ext uri="{FF2B5EF4-FFF2-40B4-BE49-F238E27FC236}">
                <a16:creationId xmlns:a16="http://schemas.microsoft.com/office/drawing/2014/main" id="{D43DE0F0-C135-E042-2824-D39BC7FE6111}"/>
              </a:ext>
            </a:extLst>
          </p:cNvPr>
          <p:cNvSpPr txBox="1"/>
          <p:nvPr/>
        </p:nvSpPr>
        <p:spPr>
          <a:xfrm>
            <a:off x="224481" y="102767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b="1" u="sng">
                <a:latin typeface="Arial"/>
                <a:ea typeface="ＭＳ Ｐゴシック"/>
                <a:cs typeface="Arial"/>
              </a:rPr>
              <a:t>IMPACT </a:t>
            </a:r>
            <a:endParaRPr lang="en-US" u="sng">
              <a:latin typeface="Arial"/>
              <a:ea typeface="ＭＳ Ｐゴシック"/>
              <a:cs typeface="Arial"/>
            </a:endParaRPr>
          </a:p>
        </p:txBody>
      </p:sp>
      <p:sp>
        <p:nvSpPr>
          <p:cNvPr id="5" name="TextBox 4">
            <a:extLst>
              <a:ext uri="{FF2B5EF4-FFF2-40B4-BE49-F238E27FC236}">
                <a16:creationId xmlns:a16="http://schemas.microsoft.com/office/drawing/2014/main" id="{8FC884DF-8E50-561D-D0BC-B019F4D5909F}"/>
              </a:ext>
            </a:extLst>
          </p:cNvPr>
          <p:cNvSpPr txBox="1"/>
          <p:nvPr/>
        </p:nvSpPr>
        <p:spPr>
          <a:xfrm>
            <a:off x="224481" y="374615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b="1" u="sng">
                <a:latin typeface="Times New Roman"/>
                <a:ea typeface="ＭＳ Ｐゴシック"/>
                <a:cs typeface="Times New Roman"/>
              </a:rPr>
              <a:t>BENEFITS</a:t>
            </a:r>
            <a:endParaRPr lang="en-US" u="sng">
              <a:ea typeface="ＭＳ Ｐゴシック"/>
              <a:cs typeface="Calibri" pitchFamily="34" charset="0"/>
            </a:endParaRPr>
          </a:p>
        </p:txBody>
      </p:sp>
      <p:sp>
        <p:nvSpPr>
          <p:cNvPr id="8" name="TextBox 7">
            <a:extLst>
              <a:ext uri="{FF2B5EF4-FFF2-40B4-BE49-F238E27FC236}">
                <a16:creationId xmlns:a16="http://schemas.microsoft.com/office/drawing/2014/main" id="{D1ABEFD2-4238-0676-6892-3EB9623A3DFD}"/>
              </a:ext>
            </a:extLst>
          </p:cNvPr>
          <p:cNvSpPr txBox="1"/>
          <p:nvPr/>
        </p:nvSpPr>
        <p:spPr>
          <a:xfrm>
            <a:off x="440725" y="4116860"/>
            <a:ext cx="1160917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1400" b="1" u="sng" dirty="0">
                <a:solidFill>
                  <a:srgbClr val="0F1115"/>
                </a:solidFill>
                <a:latin typeface="Arial"/>
                <a:ea typeface="ＭＳ Ｐゴシック"/>
                <a:cs typeface="Calibri Light"/>
              </a:rPr>
              <a:t>Hyper-Personalized Guidance:</a:t>
            </a:r>
            <a:r>
              <a:rPr lang="en-US" sz="1400" i="1" dirty="0">
                <a:solidFill>
                  <a:srgbClr val="0F1115"/>
                </a:solidFill>
                <a:latin typeface="Calibri Light"/>
                <a:ea typeface="ＭＳ Ｐゴシック"/>
                <a:cs typeface="Calibri Light"/>
              </a:rPr>
              <a:t> Moves beyond generic advice to receive recommendations tailored to their specific plot of land, crop variety, soil health, and local micro-climate.</a:t>
            </a:r>
          </a:p>
          <a:p>
            <a:pPr>
              <a:buFont typeface="Arial"/>
              <a:buChar char="•"/>
            </a:pPr>
            <a:r>
              <a:rPr lang="en-US" sz="1400" i="1" dirty="0">
                <a:solidFill>
                  <a:srgbClr val="0F1115"/>
                </a:solidFill>
                <a:latin typeface="Calibri Light"/>
                <a:ea typeface="Calibri"/>
                <a:cs typeface="Calibri"/>
              </a:rPr>
              <a:t>    </a:t>
            </a:r>
            <a:r>
              <a:rPr lang="en-US" sz="1400" b="1" u="sng" dirty="0">
                <a:solidFill>
                  <a:srgbClr val="0F1115"/>
                </a:solidFill>
                <a:latin typeface="Arial"/>
                <a:ea typeface="Calibri"/>
                <a:cs typeface="Calibri"/>
              </a:rPr>
              <a:t>Crisis Management:</a:t>
            </a:r>
            <a:r>
              <a:rPr lang="en-US" sz="1400" i="1" dirty="0">
                <a:solidFill>
                  <a:srgbClr val="0F1115"/>
                </a:solidFill>
                <a:latin typeface="Calibri Light"/>
                <a:ea typeface="Calibri"/>
                <a:cs typeface="Calibri"/>
              </a:rPr>
              <a:t> Allows for rapid, targeted dissemination of critical information during widespread pest attacks or extreme weather events across </a:t>
            </a:r>
          </a:p>
          <a:p>
            <a:r>
              <a:rPr lang="en-US" sz="1400" i="1" dirty="0">
                <a:solidFill>
                  <a:srgbClr val="0F1115"/>
                </a:solidFill>
                <a:latin typeface="Calibri Light"/>
                <a:ea typeface="Calibri"/>
                <a:cs typeface="Calibri"/>
              </a:rPr>
              <a:t>  </a:t>
            </a:r>
            <a:r>
              <a:rPr lang="en-US" sz="1400" i="1" dirty="0">
                <a:solidFill>
                  <a:srgbClr val="0F1115"/>
                </a:solidFill>
                <a:latin typeface="Calibri"/>
                <a:ea typeface="Calibri"/>
                <a:cs typeface="Calibri"/>
              </a:rPr>
              <a:t>    </a:t>
            </a:r>
            <a:r>
              <a:rPr lang="en-US" sz="1400" i="1">
                <a:solidFill>
                  <a:srgbClr val="0F1115"/>
                </a:solidFill>
                <a:latin typeface="Calibri Light"/>
                <a:ea typeface="Calibri Light"/>
                <a:cs typeface="Calibri Light"/>
              </a:rPr>
              <a:t>specific regions and crops</a:t>
            </a:r>
            <a:r>
              <a:rPr lang="en-US" sz="1400" i="1" dirty="0">
                <a:solidFill>
                  <a:srgbClr val="0F1115"/>
                </a:solidFill>
                <a:latin typeface="Calibri Light"/>
                <a:ea typeface="Calibri"/>
                <a:cs typeface="Calibri"/>
              </a:rPr>
              <a:t>                        </a:t>
            </a:r>
            <a:endParaRPr lang="en-US" dirty="0">
              <a:cs typeface="Calibri" pitchFamily="34" charset="0"/>
            </a:endParaRPr>
          </a:p>
          <a:p>
            <a:pPr>
              <a:buFont typeface="Arial"/>
              <a:buChar char="•"/>
            </a:pPr>
            <a:r>
              <a:rPr lang="en-US" sz="1400" i="1" dirty="0">
                <a:solidFill>
                  <a:srgbClr val="0F1115"/>
                </a:solidFill>
                <a:latin typeface="Calibri Light"/>
                <a:ea typeface="Calibri"/>
                <a:cs typeface="Calibri"/>
              </a:rPr>
              <a:t>    </a:t>
            </a:r>
            <a:r>
              <a:rPr lang="en-US" sz="1400" b="1" u="sng" dirty="0">
                <a:solidFill>
                  <a:srgbClr val="0F1115"/>
                </a:solidFill>
                <a:latin typeface="Arial"/>
                <a:ea typeface="Calibri"/>
                <a:cs typeface="Calibri"/>
              </a:rPr>
              <a:t>Environmental Sustainability:</a:t>
            </a:r>
            <a:r>
              <a:rPr lang="en-US" sz="1400" i="1" dirty="0">
                <a:solidFill>
                  <a:srgbClr val="0F1115"/>
                </a:solidFill>
                <a:latin typeface="Calibri Light"/>
                <a:ea typeface="Calibri"/>
                <a:cs typeface="Calibri"/>
              </a:rPr>
              <a:t> Promotes the reduction of chemical inputs and optimal water use, leading to healthier soil and reduced pollution of</a:t>
            </a:r>
          </a:p>
          <a:p>
            <a:r>
              <a:rPr lang="en-US" sz="1400" i="1" dirty="0">
                <a:solidFill>
                  <a:srgbClr val="0F1115"/>
                </a:solidFill>
                <a:latin typeface="Calibri Light"/>
                <a:ea typeface="Calibri"/>
                <a:cs typeface="Calibri"/>
              </a:rPr>
              <a:t>      Kerala's b  backwaters and rivers.</a:t>
            </a:r>
            <a:endParaRPr lang="en-US" dirty="0">
              <a:cs typeface="Calibri" pitchFamily="34" charset="0"/>
            </a:endParaRPr>
          </a:p>
          <a:p>
            <a:pPr>
              <a:buFont typeface="Arial"/>
              <a:buChar char="•"/>
            </a:pPr>
            <a:r>
              <a:rPr lang="en-US" sz="1400" i="1" dirty="0">
                <a:solidFill>
                  <a:srgbClr val="0F1115"/>
                </a:solidFill>
                <a:latin typeface="Calibri Light"/>
                <a:ea typeface="Calibri"/>
                <a:cs typeface="Calibri"/>
              </a:rPr>
              <a:t>    </a:t>
            </a:r>
            <a:r>
              <a:rPr lang="en-US" sz="1400" b="1" u="sng" dirty="0">
                <a:solidFill>
                  <a:srgbClr val="0F1115"/>
                </a:solidFill>
                <a:latin typeface="Arial"/>
                <a:ea typeface="Calibri"/>
                <a:cs typeface="Calibri"/>
              </a:rPr>
              <a:t>Attracting Youth to Agriculture: </a:t>
            </a:r>
            <a:r>
              <a:rPr lang="en-US" sz="1400" i="1" dirty="0">
                <a:solidFill>
                  <a:srgbClr val="0F1115"/>
                </a:solidFill>
                <a:latin typeface="Calibri Light"/>
                <a:ea typeface="Calibri"/>
                <a:cs typeface="Calibri"/>
              </a:rPr>
              <a:t>Modern, tech-enabled farming makes agriculture a more attractive and viable profession for the younger generation.</a:t>
            </a:r>
          </a:p>
          <a:p>
            <a:pPr>
              <a:buFont typeface="Arial"/>
              <a:buChar char="•"/>
            </a:pPr>
            <a:r>
              <a:rPr lang="en-US" sz="1400" i="1" dirty="0">
                <a:solidFill>
                  <a:srgbClr val="0F1115"/>
                </a:solidFill>
                <a:latin typeface="Calibri Light"/>
                <a:ea typeface="Calibri"/>
                <a:cs typeface="Calibri"/>
              </a:rPr>
              <a:t>   </a:t>
            </a:r>
            <a:r>
              <a:rPr lang="en-US" sz="1400" b="1" u="sng" dirty="0">
                <a:solidFill>
                  <a:srgbClr val="0F1115"/>
                </a:solidFill>
                <a:latin typeface="Arial"/>
                <a:ea typeface="Calibri"/>
                <a:cs typeface="Calibri"/>
              </a:rPr>
              <a:t> Rapid Feedback Loop:</a:t>
            </a:r>
            <a:r>
              <a:rPr lang="en-US" sz="1400" i="1" dirty="0">
                <a:solidFill>
                  <a:srgbClr val="0F1115"/>
                </a:solidFill>
                <a:latin typeface="Calibri Light"/>
                <a:ea typeface="Calibri"/>
                <a:cs typeface="Calibri"/>
              </a:rPr>
              <a:t> New recommendations or varieties can be tested and their adoption and effectiveness can be monitored in real-time, accelerating      </a:t>
            </a:r>
            <a:endParaRPr lang="en-US" dirty="0">
              <a:solidFill>
                <a:srgbClr val="000000"/>
              </a:solidFill>
              <a:cs typeface="Calibri" pitchFamily="34" charset="0"/>
            </a:endParaRPr>
          </a:p>
          <a:p>
            <a:r>
              <a:rPr lang="en-US" sz="1400" i="1">
                <a:solidFill>
                  <a:srgbClr val="0F1115"/>
                </a:solidFill>
                <a:latin typeface="Calibri Light"/>
                <a:ea typeface="Calibri"/>
                <a:cs typeface="Calibri"/>
              </a:rPr>
              <a:t>      agricultural R&amp;D.</a:t>
            </a:r>
            <a:br>
              <a:rPr lang="en-US" dirty="0"/>
            </a:br>
            <a:endParaRPr lang="en-US">
              <a:cs typeface="Calibri" pitchFamily="34" charset="0"/>
            </a:endParaRPr>
          </a:p>
          <a:p>
            <a:br>
              <a:rPr lang="en-US" dirty="0"/>
            </a:br>
            <a:endParaRPr lang="en-US">
              <a:cs typeface="Calibri"/>
            </a:endParaRPr>
          </a:p>
          <a:p>
            <a:pPr marL="228600" indent="-228600">
              <a:buFont typeface=""/>
              <a:buChar char="•"/>
            </a:pPr>
            <a:endParaRPr lang="en-US">
              <a:solidFill>
                <a:srgbClr val="0F1115"/>
              </a:solidFill>
              <a:latin typeface="quote-cjk-patch"/>
            </a:endParaRP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u="sng">
                <a:latin typeface="Times New Roman"/>
                <a:ea typeface="ＭＳ Ｐゴシック"/>
                <a:cs typeface="Times New Roman"/>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237097" y="118381"/>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lang="en-US">
                <a:ea typeface="Calibri"/>
                <a:cs typeface="Calibri"/>
              </a:rPr>
              <a:t>Sprout7</a:t>
            </a:r>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E6FEAB7-7F3F-03AC-12ED-208A8492B001}"/>
              </a:ext>
            </a:extLst>
          </p:cNvPr>
          <p:cNvSpPr/>
          <p:nvPr/>
        </p:nvSpPr>
        <p:spPr>
          <a:xfrm>
            <a:off x="1169773" y="932936"/>
            <a:ext cx="8173992" cy="48994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i="1" u="sng" dirty="0">
                <a:latin typeface="Calibri Light"/>
                <a:ea typeface="Calibri"/>
                <a:cs typeface="Calibri"/>
              </a:rPr>
              <a:t>Research :</a:t>
            </a:r>
          </a:p>
          <a:p>
            <a:endParaRPr lang="en-US" b="1" i="1" u="sng" dirty="0">
              <a:latin typeface="Calibri Light"/>
              <a:ea typeface="+mn-lt"/>
              <a:cs typeface="+mn-lt"/>
            </a:endParaRPr>
          </a:p>
          <a:p>
            <a:r>
              <a:rPr lang="en-US" i="1" dirty="0">
                <a:latin typeface="Calibri Light"/>
                <a:ea typeface="+mn-lt"/>
                <a:cs typeface="+mn-lt"/>
              </a:rPr>
              <a:t>Kerala Agricultural University (KAU) is a premier institution in Kerala dedicated to agricultural education, research, and extension. </a:t>
            </a:r>
            <a:endParaRPr lang="en-US" i="1">
              <a:latin typeface="Calibri Light"/>
              <a:ea typeface="Calibri Light"/>
              <a:cs typeface="Calibri Light"/>
            </a:endParaRPr>
          </a:p>
          <a:p>
            <a:r>
              <a:rPr lang="en-US" dirty="0">
                <a:latin typeface="Calibri"/>
                <a:ea typeface="+mn-lt"/>
                <a:cs typeface="+mn-lt"/>
              </a:rPr>
              <a:t>* Kerala Agricultural University (KAU) → [</a:t>
            </a:r>
            <a:r>
              <a:rPr lang="en-US" dirty="0">
                <a:latin typeface="Calibri"/>
                <a:ea typeface="+mn-lt"/>
                <a:cs typeface="+mn-lt"/>
                <a:hlinkClick r:id="rId4"/>
              </a:rPr>
              <a:t>https://kau.in/](https://kau.in/</a:t>
            </a:r>
            <a:r>
              <a:rPr lang="en-US" dirty="0">
                <a:latin typeface="Calibri"/>
                <a:ea typeface="+mn-lt"/>
                <a:cs typeface="+mn-lt"/>
              </a:rPr>
              <a:t>)</a:t>
            </a:r>
          </a:p>
          <a:p>
            <a:r>
              <a:rPr lang="en-US" dirty="0">
                <a:latin typeface="Calibri"/>
                <a:ea typeface="+mn-lt"/>
                <a:cs typeface="+mn-lt"/>
              </a:rPr>
              <a:t>* National Centre of Organic Farming (NCOF) → [</a:t>
            </a:r>
            <a:r>
              <a:rPr lang="en-US" dirty="0">
                <a:latin typeface="Calibri"/>
                <a:ea typeface="+mn-lt"/>
                <a:cs typeface="+mn-lt"/>
                <a:hlinkClick r:id="rId5"/>
              </a:rPr>
              <a:t>https://ncof.dacnet.nic.in/](https://ncof.dacnet.nic.in/</a:t>
            </a:r>
            <a:r>
              <a:rPr lang="en-US" dirty="0">
                <a:latin typeface="Calibri"/>
                <a:ea typeface="+mn-lt"/>
                <a:cs typeface="+mn-lt"/>
              </a:rPr>
              <a:t>)</a:t>
            </a:r>
          </a:p>
          <a:p>
            <a:endParaRPr lang="en-US" i="1" dirty="0">
              <a:latin typeface="Calibri Light"/>
              <a:ea typeface="+mn-lt"/>
              <a:cs typeface="+mn-lt"/>
            </a:endParaRPr>
          </a:p>
          <a:p>
            <a:r>
              <a:rPr lang="en-US" dirty="0" err="1">
                <a:ea typeface="+mn-lt"/>
                <a:cs typeface="+mn-lt"/>
              </a:rPr>
              <a:t>OpenWeather</a:t>
            </a:r>
            <a:r>
              <a:rPr lang="en-US" dirty="0">
                <a:ea typeface="+mn-lt"/>
                <a:cs typeface="+mn-lt"/>
              </a:rPr>
              <a:t> → [</a:t>
            </a:r>
            <a:r>
              <a:rPr lang="en-US" dirty="0">
                <a:ea typeface="+mn-lt"/>
                <a:cs typeface="+mn-lt"/>
                <a:hlinkClick r:id="rId6"/>
              </a:rPr>
              <a:t>https://openweathermap.org/api](https://openweathermap.org/api</a:t>
            </a:r>
            <a:r>
              <a:rPr lang="en-US" dirty="0">
                <a:ea typeface="+mn-lt"/>
                <a:cs typeface="+mn-lt"/>
              </a:rPr>
              <a:t>)</a:t>
            </a:r>
            <a:endParaRPr lang="en-US" dirty="0">
              <a:ea typeface="Calibri"/>
              <a:cs typeface="Calibri"/>
            </a:endParaRPr>
          </a:p>
          <a:p>
            <a:endParaRPr lang="en-US" dirty="0">
              <a:ea typeface="+mn-lt"/>
              <a:cs typeface="+mn-lt"/>
            </a:endParaRPr>
          </a:p>
          <a:p>
            <a:r>
              <a:rPr lang="en-US" dirty="0" err="1">
                <a:ea typeface="+mn-lt"/>
                <a:cs typeface="+mn-lt"/>
              </a:rPr>
              <a:t>Agmarknet</a:t>
            </a:r>
            <a:r>
              <a:rPr lang="en-US" dirty="0">
                <a:ea typeface="+mn-lt"/>
                <a:cs typeface="+mn-lt"/>
              </a:rPr>
              <a:t> → [</a:t>
            </a:r>
            <a:r>
              <a:rPr lang="en-US" dirty="0">
                <a:ea typeface="+mn-lt"/>
                <a:cs typeface="+mn-lt"/>
                <a:hlinkClick r:id="rId7"/>
              </a:rPr>
              <a:t>https://agmarknet.gov.in/](https://agmarknet.gov.in/</a:t>
            </a:r>
            <a:r>
              <a:rPr lang="en-US" dirty="0">
                <a:ea typeface="+mn-lt"/>
                <a:cs typeface="+mn-lt"/>
              </a:rPr>
              <a:t>)</a:t>
            </a:r>
            <a:endParaRPr lang="en-US" dirty="0">
              <a:ea typeface="Calibri"/>
              <a:cs typeface="Calibri"/>
            </a:endParaRPr>
          </a:p>
          <a:p>
            <a:endParaRPr lang="en-US" dirty="0">
              <a:latin typeface="Calibri"/>
              <a:ea typeface="Calibri"/>
              <a:cs typeface="Calibri"/>
            </a:endParaRPr>
          </a:p>
          <a:p>
            <a:r>
              <a:rPr lang="en-US" dirty="0">
                <a:ea typeface="+mn-lt"/>
                <a:cs typeface="+mn-lt"/>
              </a:rPr>
              <a:t>Soil Health Card Portal → [</a:t>
            </a:r>
            <a:r>
              <a:rPr lang="en-US" dirty="0">
                <a:ea typeface="+mn-lt"/>
                <a:cs typeface="+mn-lt"/>
                <a:hlinkClick r:id="rId8"/>
              </a:rPr>
              <a:t>https://soilhealth.dac.gov.in/](https://soilhealth.dac.gov.in/</a:t>
            </a:r>
            <a:r>
              <a:rPr lang="en-US" dirty="0">
                <a:ea typeface="+mn-lt"/>
                <a:cs typeface="+mn-lt"/>
              </a:rPr>
              <a:t>)</a:t>
            </a:r>
            <a:endParaRPr lang="en-US" dirty="0">
              <a:ea typeface="Calibri"/>
              <a:cs typeface="Calibri"/>
            </a:endParaRPr>
          </a:p>
          <a:p>
            <a:endParaRPr lang="en-US" dirty="0">
              <a:latin typeface="Calibri"/>
              <a:ea typeface="Calibri"/>
              <a:cs typeface="Calibri"/>
            </a:endParaRPr>
          </a:p>
          <a:p>
            <a:r>
              <a:rPr lang="en-US" dirty="0" err="1">
                <a:ea typeface="+mn-lt"/>
                <a:cs typeface="+mn-lt"/>
              </a:rPr>
              <a:t>PlantVillage</a:t>
            </a:r>
            <a:r>
              <a:rPr lang="en-US" dirty="0">
                <a:ea typeface="+mn-lt"/>
                <a:cs typeface="+mn-lt"/>
              </a:rPr>
              <a:t> Dataset → [</a:t>
            </a:r>
            <a:r>
              <a:rPr lang="en-US" dirty="0">
                <a:ea typeface="+mn-lt"/>
                <a:cs typeface="+mn-lt"/>
                <a:hlinkClick r:id="rId9"/>
              </a:rPr>
              <a:t>https://plantvillage.psu.edu/](https://plantvillage.psu.edu/</a:t>
            </a:r>
            <a:r>
              <a:rPr lang="en-US" dirty="0">
                <a:ea typeface="+mn-lt"/>
                <a:cs typeface="+mn-lt"/>
              </a:rPr>
              <a:t>)</a:t>
            </a:r>
            <a:endParaRPr lang="en-US" dirty="0">
              <a:ea typeface="Calibri"/>
              <a:cs typeface="Calibri"/>
            </a:endParaRPr>
          </a:p>
          <a:p>
            <a:endParaRPr lang="en-US" dirty="0">
              <a:latin typeface="Calibri"/>
              <a:ea typeface="Calibri"/>
              <a:cs typeface="Calibri"/>
            </a:endParaRP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5</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SMART INDIA HACKATHON 2025</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revision>339</cp:revision>
  <dcterms:created xsi:type="dcterms:W3CDTF">2013-12-12T18:46:50Z</dcterms:created>
  <dcterms:modified xsi:type="dcterms:W3CDTF">2025-09-20T04:30:17Z</dcterms:modified>
  <cp:category/>
</cp:coreProperties>
</file>